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e" id="{8e55ba15-0063-681a-702c-c8d52498c790}">
          <p14:sldIdLst>
            <p14:sldId id="256"/>
            <p14:sldId id="257"/>
            <p14:sldId id="258"/>
            <p14:sldId id="259"/>
          </p14:sldIdLst>
        </p14:section>
        <p14:section name="Pipeline" id="{5bca963c-7403-b924-ace7-68ba9040f23b}">
          <p14:sldIdLst>
            <p14:sldId id="260"/>
            <p14:sldId id="261"/>
            <p14:sldId id="262"/>
          </p14:sldIdLst>
        </p14:section>
        <p14:section name="Démonstration" id="{b822803c-5bf2-bac6-b6b3-4d26381317eb}">
          <p14:sldIdLst>
            <p14:sldId id="263"/>
            <p14:sldId id="264"/>
            <p14:sldId id="265"/>
          </p14:sldIdLst>
        </p14:section>
        <p14:section name="Clôture" id="{49d29ceb-9d20-acfd-f9ff-e49a946570e2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Exercice 13 - Orchestration d'un pipeline Airbyte avec Dagster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Groupe 8 · Sécurité informatique · 29 octobre 2026</a:t>
            </a:r>
            <a:endParaRPr lang="en-US" sz="1800" dirty="0"/>
          </a:p>
        </p:txBody>
      </p:sp>
      <p:sp>
        <p:nvSpPr>
          <p:cNvPr id="4" name="Tag Airbyte"/>
          <p:cNvSpPr/>
          <p:nvPr/>
        </p:nvSpPr>
        <p:spPr>
          <a:xfrm>
            <a:off x="640080" y="457200"/>
            <a:ext cx="1371600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Airbyte</a:t>
            </a:r>
            <a:endParaRPr lang="en-US" sz="1400" dirty="0"/>
          </a:p>
        </p:txBody>
      </p:sp>
      <p:sp>
        <p:nvSpPr>
          <p:cNvPr id="5" name="Tag Dagster"/>
          <p:cNvSpPr/>
          <p:nvPr/>
        </p:nvSpPr>
        <p:spPr>
          <a:xfrm>
            <a:off x="2194560" y="457200"/>
            <a:ext cx="137160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Dagster</a:t>
            </a:r>
            <a:endParaRPr lang="en-US" sz="1400" dirty="0"/>
          </a:p>
        </p:txBody>
      </p:sp>
      <p:sp>
        <p:nvSpPr>
          <p:cNvPr id="6" name="Tag FastAPI"/>
          <p:cNvSpPr/>
          <p:nvPr/>
        </p:nvSpPr>
        <p:spPr>
          <a:xfrm>
            <a:off x="3749040" y="457200"/>
            <a:ext cx="1371600" cy="411480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FastAPI</a:t>
            </a:r>
            <a:endParaRPr lang="en-US" sz="1400" dirty="0"/>
          </a:p>
        </p:txBody>
      </p:sp>
      <p:sp>
        <p:nvSpPr>
          <p:cNvPr id="7" name="Membre 1"/>
          <p:cNvSpPr/>
          <p:nvPr/>
        </p:nvSpPr>
        <p:spPr>
          <a:xfrm>
            <a:off x="640080" y="361188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OUEDRAOGO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 Boris Alex</a:t>
            </a:r>
            <a:endParaRPr lang="en-US" sz="1400" dirty="0"/>
          </a:p>
        </p:txBody>
      </p:sp>
      <p:sp>
        <p:nvSpPr>
          <p:cNvPr id="9" name="Membre 2"/>
          <p:cNvSpPr/>
          <p:nvPr/>
        </p:nvSpPr>
        <p:spPr>
          <a:xfrm>
            <a:off x="3337560" y="361188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BADINI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Cheick Ahmed Tidiane</a:t>
            </a:r>
            <a:endParaRPr lang="en-US" sz="1400" dirty="0"/>
          </a:p>
        </p:txBody>
      </p:sp>
      <p:sp>
        <p:nvSpPr>
          <p:cNvPr id="11" name="Membre 3"/>
          <p:cNvSpPr/>
          <p:nvPr/>
        </p:nvSpPr>
        <p:spPr>
          <a:xfrm>
            <a:off x="6035040" y="3611880"/>
            <a:ext cx="256032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BAZIE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Jacob Yiuerga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Objectifs</a:t>
            </a:r>
            <a:endParaRPr lang="en-US" sz="3200" dirty="0"/>
          </a:p>
        </p:txBody>
      </p:sp>
      <p:sp>
        <p:nvSpPr>
          <p:cNvPr id="3" name="Row 1"/>
          <p:cNvSpPr/>
          <p:nvPr/>
        </p:nvSpPr>
        <p:spPr>
          <a:xfrm>
            <a:off x="457200" y="12801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Orchestrer une réplication MySQL → PostgreSQL avec Airbyte</a:t>
            </a:r>
            <a:endParaRPr lang="en-US" sz="1600" dirty="0"/>
          </a:p>
        </p:txBody>
      </p:sp>
      <p:sp>
        <p:nvSpPr>
          <p:cNvPr id="6" name="Row 2"/>
          <p:cNvSpPr/>
          <p:nvPr/>
        </p:nvSpPr>
        <p:spPr>
          <a:xfrm>
            <a:off x="457200" y="19659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65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Contrôler automatiquement la qualité des données après chargement</a:t>
            </a:r>
            <a:endParaRPr lang="en-US" sz="1600" dirty="0"/>
          </a:p>
        </p:txBody>
      </p:sp>
      <p:sp>
        <p:nvSpPr>
          <p:cNvPr id="9" name="Row 3"/>
          <p:cNvSpPr/>
          <p:nvPr/>
        </p:nvSpPr>
        <p:spPr>
          <a:xfrm>
            <a:off x="457200" y="26517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517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Bloquer la publication si les contrôles échouent</a:t>
            </a:r>
            <a:endParaRPr lang="en-US" sz="1600" dirty="0"/>
          </a:p>
        </p:txBody>
      </p:sp>
      <p:sp>
        <p:nvSpPr>
          <p:cNvPr id="12" name="Row 4"/>
          <p:cNvSpPr/>
          <p:nvPr/>
        </p:nvSpPr>
        <p:spPr>
          <a:xfrm>
            <a:off x="457200" y="33375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29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375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Exposer les ventes validées via une API REST</a:t>
            </a:r>
            <a:endParaRPr lang="en-US" sz="1600" dirty="0"/>
          </a:p>
        </p:txBody>
      </p:sp>
      <p:sp>
        <p:nvSpPr>
          <p:cNvPr id="15" name="Row 5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23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Tester les 3 scénarios (normal / erreur / relance)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Architecture globale</a:t>
            </a:r>
            <a:endParaRPr lang="en-US" sz="3200" dirty="0"/>
          </a:p>
        </p:txBody>
      </p:sp>
      <p:sp>
        <p:nvSpPr>
          <p:cNvPr id="3" name="Node MySQL"/>
          <p:cNvSpPr/>
          <p:nvPr/>
        </p:nvSpPr>
        <p:spPr>
          <a:xfrm>
            <a:off x="457200" y="128016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MySQL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shop.sales</a:t>
            </a:r>
            <a:endParaRPr lang="en-US" sz="1400" dirty="0"/>
          </a:p>
        </p:txBody>
      </p:sp>
      <p:sp>
        <p:nvSpPr>
          <p:cNvPr id="5" name="Node PostgreSQL"/>
          <p:cNvSpPr/>
          <p:nvPr/>
        </p:nvSpPr>
        <p:spPr>
          <a:xfrm>
            <a:off x="4023360" y="1280160"/>
            <a:ext cx="210312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023360" y="1280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public.sales</a:t>
            </a:r>
            <a:endParaRPr lang="en-US" sz="1400" dirty="0"/>
          </a:p>
        </p:txBody>
      </p:sp>
      <p:sp>
        <p:nvSpPr>
          <p:cNvPr id="7" name="Node FastAPI"/>
          <p:cNvSpPr/>
          <p:nvPr/>
        </p:nvSpPr>
        <p:spPr>
          <a:xfrm>
            <a:off x="6949440" y="1280160"/>
            <a:ext cx="173736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0" y="12801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API REST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Airbyte Sync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123444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554480"/>
            <a:ext cx="59436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2331720"/>
            <a:ext cx="274320" cy="274320"/>
          </a:xfrm>
          <a:prstGeom prst="downArrow">
            <a:avLst/>
          </a:prstGeom>
          <a:solidFill>
            <a:schemeClr val="tx1"/>
          </a:solidFill>
          <a:ln/>
        </p:spPr>
      </p:sp>
      <p:sp>
        <p:nvSpPr>
          <p:cNvPr id="13" name="Dagster band"/>
          <p:cNvSpPr/>
          <p:nvPr/>
        </p:nvSpPr>
        <p:spPr>
          <a:xfrm>
            <a:off x="457200" y="2651760"/>
            <a:ext cx="8229600" cy="19659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Dagster — orchestration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18288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raw_sales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sync Airbyte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60320" y="3657600"/>
            <a:ext cx="365760" cy="36576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291840"/>
            <a:ext cx="2743200" cy="109728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Checks bloquants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row_count · unique_ids · valid_amounts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0" y="3657600"/>
            <a:ext cx="365760" cy="36576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291840"/>
            <a:ext cx="2194560" cy="1097280"/>
          </a:xfrm>
          <a:prstGeom prst="roundRect">
            <a:avLst>
              <a:gd name="adj" fmla="val 8333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validated_sales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publication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Choix techniques</a:t>
            </a:r>
            <a:endParaRPr lang="en-US" sz="3200" dirty="0"/>
          </a:p>
        </p:txBody>
      </p:sp>
      <p:sp>
        <p:nvSpPr>
          <p:cNvPr id="3" name="Tech Airbyte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89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Airbyte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755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abctl local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réplication source → cible</a:t>
            </a:r>
            <a:endParaRPr lang="en-US" sz="1400" dirty="0"/>
          </a:p>
        </p:txBody>
      </p:sp>
      <p:sp>
        <p:nvSpPr>
          <p:cNvPr id="7" name="Tech Dagster"/>
          <p:cNvSpPr/>
          <p:nvPr/>
        </p:nvSpPr>
        <p:spPr>
          <a:xfrm>
            <a:off x="256032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97480" y="1389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Dagster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55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1.13.27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574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orchestration, assets, checks bloquants</a:t>
            </a:r>
            <a:endParaRPr lang="en-US" sz="1400" dirty="0"/>
          </a:p>
        </p:txBody>
      </p:sp>
      <p:sp>
        <p:nvSpPr>
          <p:cNvPr id="11" name="Tech dagster-airbyte"/>
          <p:cNvSpPr/>
          <p:nvPr/>
        </p:nvSpPr>
        <p:spPr>
          <a:xfrm>
            <a:off x="466344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1389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dagster-airbyte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55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0.29.27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574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intégration officielle (AirbyteWorkspace)</a:t>
            </a:r>
            <a:endParaRPr lang="en-US" sz="1400" dirty="0"/>
          </a:p>
        </p:txBody>
      </p:sp>
      <p:sp>
        <p:nvSpPr>
          <p:cNvPr id="15" name="Tech PostgreSQL"/>
          <p:cNvSpPr/>
          <p:nvPr/>
        </p:nvSpPr>
        <p:spPr>
          <a:xfrm>
            <a:off x="676656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13898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1755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0574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entrepôt + tables de contrôle</a:t>
            </a:r>
            <a:endParaRPr lang="en-US" sz="1400" dirty="0"/>
          </a:p>
        </p:txBody>
      </p:sp>
      <p:sp>
        <p:nvSpPr>
          <p:cNvPr id="19" name="Tech MySQL"/>
          <p:cNvSpPr/>
          <p:nvPr/>
        </p:nvSpPr>
        <p:spPr>
          <a:xfrm>
            <a:off x="457200" y="301752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127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493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8.0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 source</a:t>
            </a:r>
            <a:endParaRPr lang="en-US" sz="1400" dirty="0"/>
          </a:p>
        </p:txBody>
      </p:sp>
      <p:sp>
        <p:nvSpPr>
          <p:cNvPr id="23" name="Tech FastAPI"/>
          <p:cNvSpPr/>
          <p:nvPr/>
        </p:nvSpPr>
        <p:spPr>
          <a:xfrm>
            <a:off x="2560320" y="301752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97480" y="3127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FastAPI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2697480" y="3493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+ Uvicorn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de consultation</a:t>
            </a:r>
            <a:endParaRPr lang="en-US" sz="1400" dirty="0"/>
          </a:p>
        </p:txBody>
      </p:sp>
      <p:sp>
        <p:nvSpPr>
          <p:cNvPr id="27" name="Tech Docker Compose"/>
          <p:cNvSpPr/>
          <p:nvPr/>
        </p:nvSpPr>
        <p:spPr>
          <a:xfrm>
            <a:off x="4663440" y="301752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00600" y="31272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 Compose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4930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services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37947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conteneurisation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Mécanisme de déclenchement Airbyte</a:t>
            </a:r>
            <a:endParaRPr lang="en-US" sz="3200" dirty="0"/>
          </a:p>
        </p:txBody>
      </p:sp>
      <p:sp>
        <p:nvSpPr>
          <p:cNvPr id="3" name="Principal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/>
        </p:spPr>
      </p:sp>
      <p:sp>
        <p:nvSpPr>
          <p:cNvPr id="4" name="Secours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PRINCIPAL · OFFICIEL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AirbyteWorkspace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+ build_airbyte_assets_definitions avec DagsterAirbyteTranslator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Matérialiser raw_sales déclenche le job Airbyte et attend sa fin (sync_and_poll).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SECOURS · REST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SYNC_MECHANISM=rest</a:t>
            </a:r>
            <a:endParaRPr lang="en-US" sz="14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/jobs, puis polling GET /jobs/{id} jusqu'à l'état final.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Connexion Airbyte 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931920"/>
            <a:ext cx="17373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 Manual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3931920"/>
            <a:ext cx="448056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Namespace Destination-defined → public.sales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Dagster &amp; contrôles qualité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219456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raw_sales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1371600"/>
            <a:ext cx="457200" cy="36576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0" y="1234440"/>
            <a:ext cx="256032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 checks bloquants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0" y="1371600"/>
            <a:ext cx="457200" cy="365760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234440"/>
            <a:ext cx="2194560" cy="640080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validated_sales</a:t>
            </a:r>
            <a:endParaRPr lang="en-US" sz="1400" dirty="0"/>
          </a:p>
        </p:txBody>
      </p:sp>
      <p:sp>
        <p:nvSpPr>
          <p:cNvPr id="8" name="Check row_count"/>
          <p:cNvSpPr/>
          <p:nvPr/>
        </p:nvSpPr>
        <p:spPr>
          <a:xfrm>
            <a:off x="457200" y="21488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row_count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Lignes MySQL = lignes PostgreSQL, et &gt; 0</a:t>
            </a:r>
            <a:endParaRPr lang="en-US" sz="1400" dirty="0"/>
          </a:p>
        </p:txBody>
      </p:sp>
      <p:sp>
        <p:nvSpPr>
          <p:cNvPr id="11" name="Check unique_ids"/>
          <p:cNvSpPr/>
          <p:nvPr/>
        </p:nvSpPr>
        <p:spPr>
          <a:xfrm>
            <a:off x="3246120" y="21488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unique_ids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 id nul ou dupliqué</a:t>
            </a:r>
            <a:endParaRPr lang="en-US" sz="1400" dirty="0"/>
          </a:p>
        </p:txBody>
      </p:sp>
      <p:sp>
        <p:nvSpPr>
          <p:cNvPr id="14" name="Check valid_amounts"/>
          <p:cNvSpPr/>
          <p:nvPr/>
        </p:nvSpPr>
        <p:spPr>
          <a:xfrm>
            <a:off x="6035040" y="2148840"/>
            <a:ext cx="265176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valid_amounts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 amount nul ou ≤ 0</a:t>
            </a:r>
            <a:endParaRPr lang="en-US" sz="1400" dirty="0"/>
          </a:p>
        </p:txBody>
      </p:sp>
      <p:sp>
        <p:nvSpPr>
          <p:cNvPr id="17" name="Note blocage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3886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check échoue → le run échoue → validated_sales n'est pas exécuté. Tous les résultats sont journalisés dans public.quality_results.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API REST</a:t>
            </a:r>
            <a:endParaRPr lang="en-US" sz="3200" dirty="0"/>
          </a:p>
        </p:txBody>
      </p:sp>
      <p:sp>
        <p:nvSpPr>
          <p:cNvPr id="3" name="Endpoint /health"/>
          <p:cNvSpPr/>
          <p:nvPr/>
        </p:nvSpPr>
        <p:spPr>
          <a:xfrm>
            <a:off x="457200" y="1280160"/>
            <a:ext cx="822960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17320"/>
            <a:ext cx="73152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28016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28016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Statut du service</a:t>
            </a:r>
            <a:endParaRPr lang="en-US" sz="1400" dirty="0"/>
          </a:p>
        </p:txBody>
      </p:sp>
      <p:sp>
        <p:nvSpPr>
          <p:cNvPr id="7" name="Endpoint /sales"/>
          <p:cNvSpPr/>
          <p:nvPr/>
        </p:nvSpPr>
        <p:spPr>
          <a:xfrm>
            <a:off x="457200" y="2121408"/>
            <a:ext cx="822960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258568"/>
            <a:ext cx="73152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12140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121408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Liste des ventes validées</a:t>
            </a:r>
            <a:endParaRPr lang="en-US" sz="1400" dirty="0"/>
          </a:p>
        </p:txBody>
      </p:sp>
      <p:sp>
        <p:nvSpPr>
          <p:cNvPr id="11" name="Endpoint /sales/{id}"/>
          <p:cNvSpPr/>
          <p:nvPr/>
        </p:nvSpPr>
        <p:spPr>
          <a:xfrm>
            <a:off x="457200" y="2962656"/>
            <a:ext cx="822960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099816"/>
            <a:ext cx="73152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96265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/sales/{id}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2962656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Détail d'une vente validée</a:t>
            </a:r>
            <a:endParaRPr lang="en-US" sz="1400" dirty="0"/>
          </a:p>
        </p:txBody>
      </p:sp>
      <p:sp>
        <p:nvSpPr>
          <p:cNvPr id="15" name="Endpoint /quality/latest"/>
          <p:cNvSpPr/>
          <p:nvPr/>
        </p:nvSpPr>
        <p:spPr>
          <a:xfrm>
            <a:off x="457200" y="3803904"/>
            <a:ext cx="8229600" cy="694944"/>
          </a:xfrm>
          <a:prstGeom prst="roundRect">
            <a:avLst>
              <a:gd name="adj" fmla="val 1315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41064"/>
            <a:ext cx="731520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80390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/quality/latest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803904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Dernier run : les 3 checks (all_passed + détail)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Scénario 1 : exécution normale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Lancement du job sales_pipeline</a:t>
            </a:r>
            <a:endParaRPr lang="en-US" sz="1600" dirty="0"/>
          </a:p>
        </p:txBody>
      </p:sp>
      <p:sp>
        <p:nvSpPr>
          <p:cNvPr id="6" name="Step 2"/>
          <p:cNvSpPr/>
          <p:nvPr/>
        </p:nvSpPr>
        <p:spPr>
          <a:xfrm>
            <a:off x="457200" y="210312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4028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03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Sync Airbyte réussie</a:t>
            </a:r>
            <a:endParaRPr lang="en-US" sz="1600" dirty="0"/>
          </a:p>
        </p:txBody>
      </p:sp>
      <p:sp>
        <p:nvSpPr>
          <p:cNvPr id="9" name="Step 3"/>
          <p:cNvSpPr/>
          <p:nvPr/>
        </p:nvSpPr>
        <p:spPr>
          <a:xfrm>
            <a:off x="457200" y="292608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632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 checks passés</a:t>
            </a:r>
            <a:endParaRPr lang="en-US" sz="1600" dirty="0"/>
          </a:p>
        </p:txBody>
      </p:sp>
      <p:sp>
        <p:nvSpPr>
          <p:cNvPr id="12" name="Step 4"/>
          <p:cNvSpPr/>
          <p:nvPr/>
        </p:nvSpPr>
        <p:spPr>
          <a:xfrm>
            <a:off x="457200" y="3749040"/>
            <a:ext cx="4572000" cy="68580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8862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490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ventes dans validated_sales</a:t>
            </a:r>
            <a:endParaRPr lang="en-US" sz="1600" dirty="0"/>
          </a:p>
        </p:txBody>
      </p:sp>
      <p:sp>
        <p:nvSpPr>
          <p:cNvPr id="15" name="Stat ventes (count: 5)"/>
          <p:cNvSpPr/>
          <p:nvPr/>
        </p:nvSpPr>
        <p:spPr>
          <a:xfrm>
            <a:off x="5394960" y="128016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532120" y="12801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28016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ventes (count: 5)</a:t>
            </a:r>
            <a:endParaRPr lang="en-US" sz="1600" dirty="0"/>
          </a:p>
        </p:txBody>
      </p:sp>
      <p:sp>
        <p:nvSpPr>
          <p:cNvPr id="18" name="Stat checks passés"/>
          <p:cNvSpPr/>
          <p:nvPr/>
        </p:nvSpPr>
        <p:spPr>
          <a:xfrm>
            <a:off x="5394960" y="237744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accent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532120" y="237744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3/3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37744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checks passés</a:t>
            </a:r>
            <a:endParaRPr lang="en-US" sz="1600" dirty="0"/>
          </a:p>
        </p:txBody>
      </p:sp>
      <p:sp>
        <p:nvSpPr>
          <p:cNvPr id="21" name="Stat all_passed"/>
          <p:cNvSpPr/>
          <p:nvPr/>
        </p:nvSpPr>
        <p:spPr>
          <a:xfrm>
            <a:off x="5394960" y="3474720"/>
            <a:ext cx="3291840" cy="960120"/>
          </a:xfrm>
          <a:prstGeom prst="roundRect">
            <a:avLst>
              <a:gd name="adj" fmla="val 9524"/>
            </a:avLst>
          </a:prstGeom>
          <a:solidFill>
            <a:schemeClr val="accent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32120" y="347472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true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4747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all_passed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Scénario 2 : erreur détectée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47548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37160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Injection de amount = -5.00 dans MySQL</a:t>
            </a:r>
            <a:endParaRPr lang="en-US" sz="1500" dirty="0"/>
          </a:p>
        </p:txBody>
      </p:sp>
      <p:sp>
        <p:nvSpPr>
          <p:cNvPr id="6" name="Step 2"/>
          <p:cNvSpPr/>
          <p:nvPr/>
        </p:nvSpPr>
        <p:spPr>
          <a:xfrm>
            <a:off x="457200" y="1947672"/>
            <a:ext cx="47548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3911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476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Synchronisation vers PostgreSQL</a:t>
            </a:r>
            <a:endParaRPr lang="en-US" sz="1500" dirty="0"/>
          </a:p>
        </p:txBody>
      </p:sp>
      <p:sp>
        <p:nvSpPr>
          <p:cNvPr id="9" name="Step 3"/>
          <p:cNvSpPr/>
          <p:nvPr/>
        </p:nvSpPr>
        <p:spPr>
          <a:xfrm>
            <a:off x="457200" y="2615184"/>
            <a:ext cx="47548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06624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151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valid_amounts échoue : pipeline bloqué</a:t>
            </a:r>
            <a:endParaRPr lang="en-US" sz="1500" dirty="0"/>
          </a:p>
        </p:txBody>
      </p:sp>
      <p:sp>
        <p:nvSpPr>
          <p:cNvPr id="12" name="Step 4"/>
          <p:cNvSpPr/>
          <p:nvPr/>
        </p:nvSpPr>
        <p:spPr>
          <a:xfrm>
            <a:off x="457200" y="3282696"/>
            <a:ext cx="47548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37413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8269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validated_sales non mis à jour</a:t>
            </a:r>
            <a:endParaRPr lang="en-US" sz="1500" dirty="0"/>
          </a:p>
        </p:txBody>
      </p:sp>
      <p:sp>
        <p:nvSpPr>
          <p:cNvPr id="15" name="Step 5"/>
          <p:cNvSpPr/>
          <p:nvPr/>
        </p:nvSpPr>
        <p:spPr>
          <a:xfrm>
            <a:off x="457200" y="3950208"/>
            <a:ext cx="475488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0416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502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L'API conserve les données précédentes</a:t>
            </a:r>
            <a:endParaRPr lang="en-US" sz="1500" dirty="0"/>
          </a:p>
        </p:txBody>
      </p:sp>
      <p:sp>
        <p:nvSpPr>
          <p:cNvPr id="18" name="Erreur"/>
          <p:cNvSpPr/>
          <p:nvPr/>
        </p:nvSpPr>
        <p:spPr>
          <a:xfrm>
            <a:off x="5486400" y="1280160"/>
            <a:ext cx="3200400" cy="320040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66928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MySQL · shop.sales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= -5.00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2560320"/>
            <a:ext cx="2834640" cy="50292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valid_amounts : ÉCHEC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validated_sales : inchangé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all_passed: false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Scénario 3 : relance après correction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28016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574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Suppression de la ligne invalide</a:t>
            </a:r>
            <a:endParaRPr lang="en-US" sz="1400" dirty="0"/>
          </a:p>
        </p:txBody>
      </p:sp>
      <p:sp>
        <p:nvSpPr>
          <p:cNvPr id="6" name="Step 2"/>
          <p:cNvSpPr/>
          <p:nvPr/>
        </p:nvSpPr>
        <p:spPr>
          <a:xfrm>
            <a:off x="2125980" y="128016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/>
          <p:nvPr/>
        </p:nvSpPr>
        <p:spPr>
          <a:xfrm>
            <a:off x="26746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35708" y="20574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Relance du job complet</a:t>
            </a:r>
            <a:endParaRPr lang="en-US" sz="1400" dirty="0"/>
          </a:p>
        </p:txBody>
      </p:sp>
      <p:sp>
        <p:nvSpPr>
          <p:cNvPr id="9" name="Step 3"/>
          <p:cNvSpPr/>
          <p:nvPr/>
        </p:nvSpPr>
        <p:spPr>
          <a:xfrm>
            <a:off x="3794760" y="128016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04488" y="20574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Airbyte resynchronise les données</a:t>
            </a:r>
            <a:endParaRPr lang="en-US" sz="1400" dirty="0"/>
          </a:p>
        </p:txBody>
      </p:sp>
      <p:sp>
        <p:nvSpPr>
          <p:cNvPr id="12" name="Step 4"/>
          <p:cNvSpPr/>
          <p:nvPr/>
        </p:nvSpPr>
        <p:spPr>
          <a:xfrm>
            <a:off x="5463540" y="128016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/>
          <p:nvPr/>
        </p:nvSpPr>
        <p:spPr>
          <a:xfrm>
            <a:off x="60121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3268" y="20574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Checks de nouveau au vert</a:t>
            </a:r>
            <a:endParaRPr lang="en-US" sz="1400" dirty="0"/>
          </a:p>
        </p:txBody>
      </p:sp>
      <p:sp>
        <p:nvSpPr>
          <p:cNvPr id="15" name="Step 5"/>
          <p:cNvSpPr/>
          <p:nvPr/>
        </p:nvSpPr>
        <p:spPr>
          <a:xfrm>
            <a:off x="7132320" y="1280160"/>
            <a:ext cx="1554480" cy="2103120"/>
          </a:xfrm>
          <a:prstGeom prst="roundRect">
            <a:avLst>
              <a:gd name="adj" fmla="val 5882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463040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057400"/>
            <a:ext cx="1335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Publication restaurée</a:t>
            </a:r>
            <a:endParaRPr lang="en-US" sz="1400" dirty="0"/>
          </a:p>
        </p:txBody>
      </p:sp>
      <p:sp>
        <p:nvSpPr>
          <p:cNvPr id="18" name="Note relance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Relance du job complet (pas de ré-exécution partielle). Le nouvel état est enregistré dans quality_results.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Installation reproductible</a:t>
            </a:r>
            <a:endParaRPr lang="en-US" sz="3200" dirty="0"/>
          </a:p>
        </p:txBody>
      </p:sp>
      <p:sp>
        <p:nvSpPr>
          <p:cNvPr id="3" name="Docker"/>
          <p:cNvSpPr/>
          <p:nvPr/>
        </p:nvSpPr>
        <p:spPr>
          <a:xfrm>
            <a:off x="457200" y="1234440"/>
            <a:ext cx="45720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Airbyte"/>
          <p:cNvSpPr/>
          <p:nvPr/>
        </p:nvSpPr>
        <p:spPr>
          <a:xfrm>
            <a:off x="5212080" y="1234440"/>
            <a:ext cx="347472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Conteneurisés (Docker Compose)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MySQL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9072" y="178308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98064" y="178308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Dagster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77056" y="1783080"/>
            <a:ext cx="100584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FastAPI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 de test : db/mysql_init.sql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Installation particulière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Airbyte via abctl (WSL2 / Git Bash requis sous Windows)</a:t>
            </a:r>
            <a:endParaRPr lang="en-US" sz="1400" dirty="0"/>
          </a:p>
        </p:txBody>
      </p:sp>
      <p:sp>
        <p:nvSpPr>
          <p:cNvPr id="13" name="Etape 1"/>
          <p:cNvSpPr/>
          <p:nvPr/>
        </p:nvSpPr>
        <p:spPr>
          <a:xfrm>
            <a:off x="45720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Copier .env.example vers .env</a:t>
            </a:r>
            <a:endParaRPr lang="en-US" sz="1400" dirty="0"/>
          </a:p>
        </p:txBody>
      </p:sp>
      <p:sp>
        <p:nvSpPr>
          <p:cNvPr id="16" name="Etape 2"/>
          <p:cNvSpPr/>
          <p:nvPr/>
        </p:nvSpPr>
        <p:spPr>
          <a:xfrm>
            <a:off x="256032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Démarrer les bases de données</a:t>
            </a:r>
            <a:endParaRPr lang="en-US" sz="1400" dirty="0"/>
          </a:p>
        </p:txBody>
      </p:sp>
      <p:sp>
        <p:nvSpPr>
          <p:cNvPr id="19" name="Etape 3"/>
          <p:cNvSpPr/>
          <p:nvPr/>
        </p:nvSpPr>
        <p:spPr>
          <a:xfrm>
            <a:off x="466344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Configurer Airbyte : source, destination, connexion Manual + Destination-defined</a:t>
            </a:r>
            <a:endParaRPr lang="en-US" sz="1400" dirty="0"/>
          </a:p>
        </p:txBody>
      </p:sp>
      <p:sp>
        <p:nvSpPr>
          <p:cNvPr id="22" name="Etape 4"/>
          <p:cNvSpPr/>
          <p:nvPr/>
        </p:nvSpPr>
        <p:spPr>
          <a:xfrm>
            <a:off x="6766560" y="3063240"/>
            <a:ext cx="19202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2004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703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 dagster api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Point 1"/>
          <p:cNvSpPr/>
          <p:nvPr/>
        </p:nvSpPr>
        <p:spPr>
          <a:xfrm>
            <a:off x="457200" y="132588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2704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Objectifs atteints</a:t>
            </a:r>
            <a:endParaRPr lang="en-US" sz="1600" dirty="0"/>
          </a:p>
        </p:txBody>
      </p:sp>
      <p:sp>
        <p:nvSpPr>
          <p:cNvPr id="6" name="Point 2"/>
          <p:cNvSpPr/>
          <p:nvPr/>
        </p:nvSpPr>
        <p:spPr>
          <a:xfrm>
            <a:off x="4663440" y="132588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52704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325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Orchestration dans le bon ordre</a:t>
            </a:r>
            <a:endParaRPr lang="en-US" sz="1600" dirty="0"/>
          </a:p>
        </p:txBody>
      </p:sp>
      <p:sp>
        <p:nvSpPr>
          <p:cNvPr id="9" name="Point 3"/>
          <p:cNvSpPr/>
          <p:nvPr/>
        </p:nvSpPr>
        <p:spPr>
          <a:xfrm>
            <a:off x="457200" y="237744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7860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Contrôles bloquants fonctionnels</a:t>
            </a:r>
            <a:endParaRPr lang="en-US" sz="1600" dirty="0"/>
          </a:p>
        </p:txBody>
      </p:sp>
      <p:sp>
        <p:nvSpPr>
          <p:cNvPr id="12" name="Point 4"/>
          <p:cNvSpPr/>
          <p:nvPr/>
        </p:nvSpPr>
        <p:spPr>
          <a:xfrm>
            <a:off x="4663440" y="237744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57860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377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Gestion d'erreur et relance validées</a:t>
            </a:r>
            <a:endParaRPr lang="en-US" sz="1600" dirty="0"/>
          </a:p>
        </p:txBody>
      </p:sp>
      <p:sp>
        <p:nvSpPr>
          <p:cNvPr id="15" name="Point 5"/>
          <p:cNvSpPr/>
          <p:nvPr/>
        </p:nvSpPr>
        <p:spPr>
          <a:xfrm>
            <a:off x="457200" y="34290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3016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429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API opérationnelle</a:t>
            </a:r>
            <a:endParaRPr lang="en-US" sz="1600" dirty="0"/>
          </a:p>
        </p:txBody>
      </p:sp>
      <p:sp>
        <p:nvSpPr>
          <p:cNvPr id="18" name="Point 6"/>
          <p:cNvSpPr/>
          <p:nvPr/>
        </p:nvSpPr>
        <p:spPr>
          <a:xfrm>
            <a:off x="4663440" y="342900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630168"/>
            <a:ext cx="457200" cy="457200"/>
          </a:xfrm>
          <a:prstGeom prst="ellipse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3429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Test bout en bout démontré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Projet reproductible selon la documentation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peline">
  <a:themeElements>
    <a:clrScheme name="Pipeline">
      <a:dk1>
        <a:srgbClr val="1B2A3A"/>
      </a:dk1>
      <a:lt1>
        <a:srgbClr val="FFFFFF"/>
      </a:lt1>
      <a:dk2>
        <a:srgbClr val="0B1F33"/>
      </a:dk2>
      <a:lt2>
        <a:srgbClr val="EEF3F7"/>
      </a:lt2>
      <a:accent1>
        <a:srgbClr val="0F766E"/>
      </a:accent1>
      <a:accent2>
        <a:srgbClr val="F59E0B"/>
      </a:accent2>
      <a:accent3>
        <a:srgbClr val="B91C1C"/>
      </a:accent3>
      <a:accent4>
        <a:srgbClr val="15803D"/>
      </a:accent4>
      <a:accent5>
        <a:srgbClr val="2563EB"/>
      </a:accent5>
      <a:accent6>
        <a:srgbClr val="7C3AED"/>
      </a:accent6>
      <a:hlink>
        <a:srgbClr val="2563EB"/>
      </a:hlink>
      <a:folHlink>
        <a:srgbClr val="7C3AED"/>
      </a:folHlink>
    </a:clrScheme>
    <a:fontScheme name="Pipeli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 13 - Orchestration d'un pipeline Airbyte avec Dagster</dc:title>
  <dc:subject>PptxGenJS Presentation</dc:subject>
  <dc:creator>PptxGenJS</dc:creator>
  <cp:lastModifiedBy>PptxGenJS</cp:lastModifiedBy>
  <cp:revision>1</cp:revision>
  <dcterms:created xsi:type="dcterms:W3CDTF">2026-10-29T15:17:21Z</dcterms:created>
  <dcterms:modified xsi:type="dcterms:W3CDTF">2026-10-29T15:17:21Z</dcterms:modified>
</cp:coreProperties>
</file>